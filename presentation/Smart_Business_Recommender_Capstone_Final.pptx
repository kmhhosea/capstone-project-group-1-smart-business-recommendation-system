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d9b1a5094b4a03" /><Relationship Type="http://schemas.openxmlformats.org/officeDocument/2006/relationships/extended-properties" Target="/docProps/app.xml" Id="R54817ce8c3464a72" /><Relationship Type="http://schemas.openxmlformats.org/officeDocument/2006/relationships/officeDocument" Target="/ppt/presentation.xml" Id="R5630b806d3af40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086a0b0df24afa"/>
  </p:sldMasterIdLst>
  <p:notesMasterIdLst>
    <p:notesMasterId xmlns:r="http://schemas.openxmlformats.org/officeDocument/2006/relationships" r:id="Rb1a4b86caf9f4a6b"/>
  </p:notesMasterIdLst>
  <p:sldIdLst>
    <p:sldId xmlns:r="http://schemas.openxmlformats.org/officeDocument/2006/relationships" id="256" r:id="R2a0d1111d1c44e1d"/>
    <p:sldId xmlns:r="http://schemas.openxmlformats.org/officeDocument/2006/relationships" id="257" r:id="Raee46896c4fd4f6f"/>
    <p:sldId xmlns:r="http://schemas.openxmlformats.org/officeDocument/2006/relationships" id="258" r:id="R2ddda5f4756e417a"/>
    <p:sldId xmlns:r="http://schemas.openxmlformats.org/officeDocument/2006/relationships" id="259" r:id="Rbde2f086f8894c08"/>
    <p:sldId xmlns:r="http://schemas.openxmlformats.org/officeDocument/2006/relationships" id="260" r:id="R56f5fa13fbb247db"/>
    <p:sldId xmlns:r="http://schemas.openxmlformats.org/officeDocument/2006/relationships" id="261" r:id="R02352492cecc47fb"/>
    <p:sldId xmlns:r="http://schemas.openxmlformats.org/officeDocument/2006/relationships" id="262" r:id="R00c787cbc6124c9f"/>
    <p:sldId xmlns:r="http://schemas.openxmlformats.org/officeDocument/2006/relationships" id="263" r:id="R7330bbbf741f4e2d"/>
    <p:sldId xmlns:r="http://schemas.openxmlformats.org/officeDocument/2006/relationships" id="264" r:id="Rd15de2201cb84778"/>
    <p:sldId xmlns:r="http://schemas.openxmlformats.org/officeDocument/2006/relationships" id="265" r:id="R0a9dafb31b0f4134"/>
    <p:sldId xmlns:r="http://schemas.openxmlformats.org/officeDocument/2006/relationships" id="266" r:id="R9f966d60bb3d47af"/>
    <p:sldId xmlns:r="http://schemas.openxmlformats.org/officeDocument/2006/relationships" id="267" r:id="Rc1dcbacdc8a84d30"/>
    <p:sldId xmlns:r="http://schemas.openxmlformats.org/officeDocument/2006/relationships" id="268" r:id="R146d9ccd90b64e3b"/>
    <p:sldId xmlns:r="http://schemas.openxmlformats.org/officeDocument/2006/relationships" id="269" r:id="Rd1ca60832b434808"/>
    <p:sldId xmlns:r="http://schemas.openxmlformats.org/officeDocument/2006/relationships" id="270" r:id="Rad554a39e40f442b"/>
    <p:sldId xmlns:r="http://schemas.openxmlformats.org/officeDocument/2006/relationships" id="271" r:id="R0b9bc526e4144d00"/>
    <p:sldId xmlns:r="http://schemas.openxmlformats.org/officeDocument/2006/relationships" id="272" r:id="R647c5ffe0ab54a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2d83c1c7264c83" /><Relationship Type="http://schemas.openxmlformats.org/officeDocument/2006/relationships/slideMaster" Target="/ppt/slideMasters/slideMaster1.xml" Id="R20086a0b0df24afa" /><Relationship Type="http://schemas.openxmlformats.org/officeDocument/2006/relationships/notesMaster" Target="/ppt/notesMasters/notesMaster1.xml" Id="Rb1a4b86caf9f4a6b" /><Relationship Type="http://schemas.openxmlformats.org/officeDocument/2006/relationships/presProps" Target="/ppt/presProps.xml" Id="R2f6a3b43216b4b89" /><Relationship Type="http://schemas.openxmlformats.org/officeDocument/2006/relationships/viewProps" Target="/ppt/viewProps.xml" Id="Ra276d4dda6bc42d7" /><Relationship Type="http://schemas.openxmlformats.org/officeDocument/2006/relationships/tableStyles" Target="/ppt/tableStyles.xml" Id="R015f27014dbd4d5c" /><Relationship Type="http://schemas.openxmlformats.org/officeDocument/2006/relationships/slide" Target="/ppt/slides/slide1.xml" Id="R2a0d1111d1c44e1d" /><Relationship Type="http://schemas.openxmlformats.org/officeDocument/2006/relationships/slide" Target="/ppt/slides/slide2.xml" Id="Raee46896c4fd4f6f" /><Relationship Type="http://schemas.openxmlformats.org/officeDocument/2006/relationships/slide" Target="/ppt/slides/slide3.xml" Id="R2ddda5f4756e417a" /><Relationship Type="http://schemas.openxmlformats.org/officeDocument/2006/relationships/slide" Target="/ppt/slides/slide4.xml" Id="Rbde2f086f8894c08" /><Relationship Type="http://schemas.openxmlformats.org/officeDocument/2006/relationships/slide" Target="/ppt/slides/slide5.xml" Id="R56f5fa13fbb247db" /><Relationship Type="http://schemas.openxmlformats.org/officeDocument/2006/relationships/slide" Target="/ppt/slides/slide6.xml" Id="R02352492cecc47fb" /><Relationship Type="http://schemas.openxmlformats.org/officeDocument/2006/relationships/slide" Target="/ppt/slides/slide7.xml" Id="R00c787cbc6124c9f" /><Relationship Type="http://schemas.openxmlformats.org/officeDocument/2006/relationships/slide" Target="/ppt/slides/slide8.xml" Id="R7330bbbf741f4e2d" /><Relationship Type="http://schemas.openxmlformats.org/officeDocument/2006/relationships/slide" Target="/ppt/slides/slide9.xml" Id="Rd15de2201cb84778" /><Relationship Type="http://schemas.openxmlformats.org/officeDocument/2006/relationships/slide" Target="/ppt/slides/slide10.xml" Id="R0a9dafb31b0f4134" /><Relationship Type="http://schemas.openxmlformats.org/officeDocument/2006/relationships/slide" Target="/ppt/slides/slide11.xml" Id="R9f966d60bb3d47af" /><Relationship Type="http://schemas.openxmlformats.org/officeDocument/2006/relationships/slide" Target="/ppt/slides/slide12.xml" Id="Rc1dcbacdc8a84d30" /><Relationship Type="http://schemas.openxmlformats.org/officeDocument/2006/relationships/slide" Target="/ppt/slides/slide13.xml" Id="R146d9ccd90b64e3b" /><Relationship Type="http://schemas.openxmlformats.org/officeDocument/2006/relationships/slide" Target="/ppt/slides/slide14.xml" Id="Rd1ca60832b434808" /><Relationship Type="http://schemas.openxmlformats.org/officeDocument/2006/relationships/slide" Target="/ppt/slides/slide15.xml" Id="Rad554a39e40f442b" /><Relationship Type="http://schemas.openxmlformats.org/officeDocument/2006/relationships/slide" Target="/ppt/slides/slide16.xml" Id="R0b9bc526e4144d00" /><Relationship Type="http://schemas.openxmlformats.org/officeDocument/2006/relationships/slide" Target="/ppt/slides/slide17.xml" Id="R647c5ffe0ab54a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b357600b22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75c4a749504815" /><Relationship Type="http://schemas.openxmlformats.org/officeDocument/2006/relationships/notesMaster" Target="/ppt/notesMasters/notesMaster1.xml" Id="Rf22cb6db6b5e49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97166a7b2e4a58" /><Relationship Type="http://schemas.openxmlformats.org/officeDocument/2006/relationships/notesMaster" Target="/ppt/notesMasters/notesMaster1.xml" Id="R07254c2e6e4241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cd5e675a974713" /><Relationship Type="http://schemas.openxmlformats.org/officeDocument/2006/relationships/notesMaster" Target="/ppt/notesMasters/notesMaster1.xml" Id="Rf5187033cd0b47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30ef8e11d74bcc" /><Relationship Type="http://schemas.openxmlformats.org/officeDocument/2006/relationships/notesMaster" Target="/ppt/notesMasters/notesMaster1.xml" Id="Re5a1ef3a0ca249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cb9055157d440d" /><Relationship Type="http://schemas.openxmlformats.org/officeDocument/2006/relationships/notesMaster" Target="/ppt/notesMasters/notesMaster1.xml" Id="Rf3443806f9de4a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085b5ef2e045dc" /><Relationship Type="http://schemas.openxmlformats.org/officeDocument/2006/relationships/notesMaster" Target="/ppt/notesMasters/notesMaster1.xml" Id="R922dfdff12bd46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b4ca66a6d945a0" /><Relationship Type="http://schemas.openxmlformats.org/officeDocument/2006/relationships/notesMaster" Target="/ppt/notesMasters/notesMaster1.xml" Id="Rd26ea9ab35e44f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d9f0d43a4d4764" /><Relationship Type="http://schemas.openxmlformats.org/officeDocument/2006/relationships/notesMaster" Target="/ppt/notesMasters/notesMaster1.xml" Id="R0d164b2f23a145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b406f588214cf1" /><Relationship Type="http://schemas.openxmlformats.org/officeDocument/2006/relationships/notesMaster" Target="/ppt/notesMasters/notesMaster1.xml" Id="R387532d22a9749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5ce427398d4d8e" /><Relationship Type="http://schemas.openxmlformats.org/officeDocument/2006/relationships/notesMaster" Target="/ppt/notesMasters/notesMaster1.xml" Id="R211eee1ef6be4a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3b6c8831ae40ad" /><Relationship Type="http://schemas.openxmlformats.org/officeDocument/2006/relationships/notesMaster" Target="/ppt/notesMasters/notesMaster1.xml" Id="Rc93acd3589754f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df10c18228417a" /><Relationship Type="http://schemas.openxmlformats.org/officeDocument/2006/relationships/notesMaster" Target="/ppt/notesMasters/notesMaster1.xml" Id="R1d2a6f05aea442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a8805c47a9408a" /><Relationship Type="http://schemas.openxmlformats.org/officeDocument/2006/relationships/notesMaster" Target="/ppt/notesMasters/notesMaster1.xml" Id="R9f88cfacf91345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e16c012b9d4c7f" /><Relationship Type="http://schemas.openxmlformats.org/officeDocument/2006/relationships/notesMaster" Target="/ppt/notesMasters/notesMaster1.xml" Id="Rf49d03b68fc24c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299ca39ea54eae" /><Relationship Type="http://schemas.openxmlformats.org/officeDocument/2006/relationships/notesMaster" Target="/ppt/notesMasters/notesMaster1.xml" Id="Rf08e9761713048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9b907b51884170" /><Relationship Type="http://schemas.openxmlformats.org/officeDocument/2006/relationships/notesMaster" Target="/ppt/notesMasters/notesMaster1.xml" Id="R4d7278fe4c184f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3b096d4e1fc47fe" /><Relationship Type="http://schemas.openxmlformats.org/officeDocument/2006/relationships/notesMaster" Target="/ppt/notesMasters/notesMaster1.xml" Id="R22f6426ef2ce4a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665a34228d41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5d932f09ac41f3" /><Relationship Type="http://schemas.openxmlformats.org/officeDocument/2006/relationships/slideLayout" Target="/ppt/slideLayouts/slideLayout1.xml" Id="R0f785c73dced44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785c73dced44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18a632e0d4856" /><Relationship Type="http://schemas.openxmlformats.org/officeDocument/2006/relationships/notesSlide" Target="/ppt/notesSlides/notesSlide1.xml" Id="R7bdbbe5c0a9743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b72093a1a4a7c" /><Relationship Type="http://schemas.openxmlformats.org/officeDocument/2006/relationships/notesSlide" Target="/ppt/notesSlides/notesSlide2.xml" Id="Rfb6d21a7d89847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4c767aa394fcb" /><Relationship Type="http://schemas.openxmlformats.org/officeDocument/2006/relationships/notesSlide" Target="/ppt/notesSlides/notesSlide3.xml" Id="R7f55cee754c14e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b06b322324481" /><Relationship Type="http://schemas.openxmlformats.org/officeDocument/2006/relationships/notesSlide" Target="/ppt/notesSlides/notesSlide4.xml" Id="R8a60bb0a139749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2b312f50b46c8" /><Relationship Type="http://schemas.openxmlformats.org/officeDocument/2006/relationships/notesSlide" Target="/ppt/notesSlides/notesSlide5.xml" Id="Rb7d4a6b079cb48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0f010758341a5" /><Relationship Type="http://schemas.openxmlformats.org/officeDocument/2006/relationships/notesSlide" Target="/ppt/notesSlides/notesSlide6.xml" Id="Ra0d79c34f85645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d35d563a94d73" /><Relationship Type="http://schemas.openxmlformats.org/officeDocument/2006/relationships/notesSlide" Target="/ppt/notesSlides/notesSlide7.xml" Id="R12e5ca71bc4345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ca44a9f0c4030" /><Relationship Type="http://schemas.openxmlformats.org/officeDocument/2006/relationships/notesSlide" Target="/ppt/notesSlides/notesSlide8.xml" Id="R1e6eb5a2391f43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cceffc8754a5f" /><Relationship Type="http://schemas.openxmlformats.org/officeDocument/2006/relationships/notesSlide" Target="/ppt/notesSlides/notesSlide9.xml" Id="R5fa1f9fedce541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8795d0cd7438a" /><Relationship Type="http://schemas.openxmlformats.org/officeDocument/2006/relationships/notesSlide" Target="/ppt/notesSlides/notesSlide10.xml" Id="R047029d1f81f4a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6b3ec3e1345ba" /><Relationship Type="http://schemas.openxmlformats.org/officeDocument/2006/relationships/notesSlide" Target="/ppt/notesSlides/notesSlide11.xml" Id="R4c5c5b511e5e46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cb0f32af646bd" /><Relationship Type="http://schemas.openxmlformats.org/officeDocument/2006/relationships/notesSlide" Target="/ppt/notesSlides/notesSlide12.xml" Id="Ree6a498905e642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5165780a048da" /><Relationship Type="http://schemas.openxmlformats.org/officeDocument/2006/relationships/notesSlide" Target="/ppt/notesSlides/notesSlide13.xml" Id="R7dce9c9e3a494f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b0c838dcc4662" /><Relationship Type="http://schemas.openxmlformats.org/officeDocument/2006/relationships/notesSlide" Target="/ppt/notesSlides/notesSlide14.xml" Id="R5469f689b1764e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09fb06252446b" /><Relationship Type="http://schemas.openxmlformats.org/officeDocument/2006/relationships/notesSlide" Target="/ppt/notesSlides/notesSlide15.xml" Id="Rcc15a84a080042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7831fe2624d5f" /><Relationship Type="http://schemas.openxmlformats.org/officeDocument/2006/relationships/notesSlide" Target="/ppt/notesSlides/notesSlide16.xml" Id="R5a39bafa78054f1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fdca3faa1424a" /><Relationship Type="http://schemas.openxmlformats.org/officeDocument/2006/relationships/notesSlide" Target="/ppt/notesSlides/notesSlide17.xml" Id="R26d184b2076e4a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6A777B-BE9D-4FA9-AF6D-9FFD25F7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4BBC7-98A7-4521-83BE-52E58E10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8AF6E-2969-4F7D-8785-D40518CC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61F5B-B6FD-4D94-8587-29526984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47408-2F9D-4500-ADDB-8AD88798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Smart Business Recommender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3333A-75D2-4C82-B9C2-19F43BE4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18766-3502-40E6-A55E-8CDA7EE1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F9FB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C5F4C-D23C-4055-B5E2-B937EB7A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07F9A-9B99-4B82-9454-A0889EE4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1A297-2682-424C-BBAF-242A2999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0"/>
            <a:ext cx="1219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C28B4-F74F-4303-BE1D-B8D07785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940C6-7ED7-48F4-93E1-2738206C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686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Smart Business</a:t>
            </a:r>
          </a:p>
          <a:p xmlns:a="http://schemas.openxmlformats.org/drawingml/2006/main">
            <a:pPr algn="l"/>
            <a:r>
              <a:t>Recommender</a:t>
            </a:r>
          </a:p>
          <a:p xmlns:a="http://schemas.openxmlformats.org/drawingml/2006/main">
            <a:pPr algn="l"/>
            <a:r>
              <a:t>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0E733-F091-4E37-8DED-1D0D3D6F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for Tanzania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BF441-FD46-409F-B023-54C1493F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0010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F9FB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AI + Data Science + Gradio + OpenAI explanation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9E116-09F4-4CB7-B4EC-C49532EF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381125"/>
            <a:ext cx="647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F9FB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A school capstone showing how messy assembled data becomes a working recommendation prototype for small business decisions.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9FEA3-B1BC-4D57-829A-F490DE93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05050"/>
            <a:ext cx="12573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A7782-C99A-46C0-85A5-ADD7ED37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GitHub Project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06BCC-B7AC-4970-AF62-7F6A9B03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432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F9FB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kmhhosea/Capstone-project-Group-1-Smart-business-recommendation-system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EEB3A-F4C3-4905-ABBD-10FC0BDE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1619250" cy="1123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CE320-1B28-433D-95D0-85D1E52E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1619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42303-7DE6-45BA-9EAF-F8925957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243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01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74C19-C8AD-4DBC-B12D-DC64AE8A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81500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Clean messy assembled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7E9A1-927B-496A-B521-AE6B8572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14750"/>
            <a:ext cx="1619250" cy="1123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B5D09-6FF3-4922-98E3-A01BFF97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14750"/>
            <a:ext cx="1619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C940C5-7476-42D8-A450-DC61372B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243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02 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42A23-9935-4906-9F97-EE92735D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81500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Compare and tune models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B7CCF-384C-42DC-A487-2081696D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14750"/>
            <a:ext cx="1619250" cy="1123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9A6BEC-D572-433E-B053-43E0753E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14750"/>
            <a:ext cx="1619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30BC60-F16B-4981-AEE6-B419876E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243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03 App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C32466-9205-4440-95BB-53F57C8C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81500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Deploy with Gradio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F5453A-A674-4491-AB2C-AF9DB0F6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14750"/>
            <a:ext cx="1619250" cy="1123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EF1467-6751-4843-8AB7-68426E6C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14750"/>
            <a:ext cx="1619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0C0EBC-781B-4281-ABFD-BA55D44B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243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04 LLM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34F675-5F12-4298-B1F7-06F56FC8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81500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Explain using age</a:t>
            </a:r>
          </a:p>
        </p:txBody>
      </p:sp>
    </p:spTree>
    <p:extLst>
      <p:ext uri="{BB962C8B-B14F-4D97-AF65-F5344CB8AC3E}">
        <p14:creationId xmlns:p14="http://schemas.microsoft.com/office/powerpoint/2010/main" val="816791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EFE40D-7FDE-4516-809B-27AEB3BE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9BDA7-7D7B-4CED-B216-68464091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C7406-20ED-4FF2-B372-168DB1E0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71C0D-34D9-4588-B7B9-D6DA07B3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4E2AA-F11A-4A67-8AB0-02B11866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96DC0-1A56-4D43-A292-B2077DEE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3FB8D-197E-4276-940D-E7F87ACF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45A57-6D64-4892-B51C-5A14816D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Small business choices are contextual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75618-5FD4-4DCA-9B78-0E65E9C9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Demand changes with region, month, weather, customers, shop type, and available capital.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0BE09-7B33-4736-8DCC-C3448D80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14325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E05A9-5BF5-49EE-ADBB-46842BAC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41"/>
          </a:solidFill>
          <a:ln xmlns:a="http://schemas.openxmlformats.org/drawingml/2006/main" w="9525">
            <a:solidFill>
              <a:srgbClr val="D9484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4C106-D562-4392-A0AC-4160D934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The challenge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8D77E-8BB9-4FAF-9621-1489045D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800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Many entrepreneurs choose stock by guesswork, habit, or copying competitors.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6B2CD-6D6A-4D98-9E0F-D785269E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14325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24A2D-B24C-4D33-89E1-09DEA972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C27EC-5D9B-40FC-A96B-0D105689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The opportunity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1BACB-4B7F-42C3-BC7B-3B29E2E2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2800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Use historical/prototype data to estimate which product categories are more likely to move.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1FD58-A6AF-45CE-9329-7C79E850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6CA3A-FA6C-4A86-9EDA-E0E68CC5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22A51-B2A9-4760-A988-316A4154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90800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The final user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71D0E2-E923-4326-9735-034C3B4D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48000"/>
            <a:ext cx="2800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A Tanzanian small business learner or entrepreneur exploring what to sell first.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09F1C-6C35-4EA1-858A-DCA807F1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696514-A0E5-418C-AC4A-8C8695C0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The project is educational: it demonstrates the full workflow, not a guaranteed profit engine.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DC03C-01C0-47A5-B589-F9FC047D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BB44C-8F1B-40C5-92D9-02D3609A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91125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Age is used by the LLM explanation layer to make advice more practical and human.</a:t>
            </a:r>
          </a:p>
        </p:txBody>
      </p:sp>
    </p:spTree>
    <p:extLst>
      <p:ext uri="{BB962C8B-B14F-4D97-AF65-F5344CB8AC3E}">
        <p14:creationId xmlns:p14="http://schemas.microsoft.com/office/powerpoint/2010/main" val="148752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AED23E-0EDB-4903-A212-AF060404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0CE09-B220-4378-B8C0-444D4DAA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92770-F1BB-420D-93B6-586360F3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7321C-B475-4843-A19F-9A4D839C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06BA5-477C-4957-A0F3-9C01623A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A3430-D5C2-400B-A3DE-97F77C16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607DE-0220-4C10-9E58-D021D0E7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PROJECT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0A2BD-7F47-4DF7-90C0-6BFA0FA5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Three outputs make the recommendation useful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A4593-AC45-4B93-9961-ED082E51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The model ranks opportunities; the interface turns them into a simple decision-support experience.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232EA-BF53-40CA-B594-032D8681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431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F319E-8292-46D6-8ACF-D79C5276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908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Smart</a:t>
            </a:r>
          </a:p>
          <a:p xmlns:a="http://schemas.openxmlformats.org/drawingml/2006/main">
            <a:pPr algn="l"/>
            <a:r>
              <a:t>Business</a:t>
            </a:r>
          </a:p>
          <a:p xmlns:a="http://schemas.openxmlformats.org/drawingml/2006/main">
            <a:pPr algn="l"/>
            <a:r>
              <a:t>Recommender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0D6EF-2732-493F-AC75-E9ACD74F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2857500" cy="1314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CB20A-3CBC-45E5-A497-8AEC94AF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2857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3473C-3F25-4010-BB39-2172A916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1. Best categories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64F72-1B5B-4CB7-880E-B781E4DE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2514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Ranks business/product categories for the selected region and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10A1B-5B7E-4B8A-872A-87008A36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857500" cy="1314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58224-D617-4731-A4A0-E13CD1F1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857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D7E9E-E983-44C0-BC8B-00EA6ADC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2. Top products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605FA-3A11-40F2-9E72-0382D0EE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2514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Shows the top products inside the highest ranked category.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98FDE-6E01-402D-9AB2-E37B269B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2857500" cy="1314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FAFD0-60A8-49F5-BDA3-5F0C8DB4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2857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88F44-8254-43E2-A4C3-E1F73E3E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860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3. Age-aware advice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B51177-16C0-46DA-B279-E3A1E7D8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514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LLM explains what business may fit the user's age and situation.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275533-8784-49A8-BD88-3581F08A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857500" cy="1314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E1A949-C69A-4E0F-9CC2-EAB4F651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857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03AF46-FE49-4569-BC84-A8AF73FA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053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4. Visual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E3E1E-C92E-4F55-B015-8F88D449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2514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Pie chart and tables make the result easier to present.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7C0FF6-1A60-4A13-B777-7C9F1E1F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43200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9A6C67-6B9B-4ECF-A8A9-FC36AEAB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62500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57AEF0-4FF1-4717-A9AD-DA749D9B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43200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2B6757-197F-45B3-A8E9-C9FC9C25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62500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</p:spTree>
    <p:extLst>
      <p:ext uri="{BB962C8B-B14F-4D97-AF65-F5344CB8AC3E}">
        <p14:creationId xmlns:p14="http://schemas.microsoft.com/office/powerpoint/2010/main" val="837202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FFC6A4-65B1-40C9-8FBE-A378C472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F3FB2-9D97-468A-B5F3-7C3412F9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829BA-0339-4283-AB7E-D8D4BD32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378C4-EFD1-4294-B99E-53FB3C53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67FAA-3601-49FC-A8D4-61577C85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4CCBB-E412-4AFD-8F9E-0FFA584B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AD1F3-19ED-4746-B62A-6AF7FB40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HOW IT IS USED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7A560-C53D-4F23-A440-0696FC09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The user follows four simple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DD4A1-BC90-4A17-B448-24FC0A57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The interface is designed for a non-technical person: choose context, click, read, and act carefully.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C431A-D756-44AB-B135-42033B03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238125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BCD7A-5156-402A-B926-78F3790F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ACD20-DB29-44D3-BBA7-CDBD7BFB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1. Choose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14537-109C-465D-8614-5E19AD16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Select region, age, month, rainfall level, temperature level, customer group, and shop type.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A69CA-CF16-4FB2-ACA2-8848CD1A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238125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9BC1A-6876-429F-BB66-F47CC71D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A748C-6059-4102-A19A-ACEBD208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194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2. Click Recommend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B6E84-AAE2-4539-A566-B9A2B815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7660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Gradio sends the selected context to the trained machine learning model.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57732-AE70-4270-84B3-E7C832CA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238125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9B2D0-1DE7-4BC2-9C53-5A5ECEE8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4E2E9-49DA-4F18-96A1-13B51CBA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FF3D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3. Read Results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2B6D3-879B-406D-B3BF-3A1C74BA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FF3D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The app shows ranked categories, top products, and a pie chart.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031C77-5A37-42EA-A9DF-9C1EE64A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238125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08C30-6AC5-4FFA-9EB2-CE320281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56CCC2-B002-4C1C-A5D7-1F946DC6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194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F3ED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4. Start Small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087ABD-1786-4A76-B772-E06C05EC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7660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F3ED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The user begins with a small stock plan and records sales for future improvement.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DB5FF9-1113-494D-BFE8-668F27EC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No coding is required for the final user. The notebook work stays behind the app.</a:t>
            </a:r>
          </a:p>
        </p:txBody>
      </p:sp>
    </p:spTree>
    <p:extLst>
      <p:ext uri="{BB962C8B-B14F-4D97-AF65-F5344CB8AC3E}">
        <p14:creationId xmlns:p14="http://schemas.microsoft.com/office/powerpoint/2010/main" val="1459727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FDF2EA-342E-4A0D-B847-BC3BDDD4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6D2CA-0A87-48CF-BFA8-7B28CAF9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12AC3-7709-4AD7-9B0D-E4290159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B1FC9-F969-42A3-8F21-124D6241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6D787-2F4A-49BB-8483-190426F3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FE295-E392-4D64-BC00-051F38C0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5E8E6-6E3A-49EA-AB19-FEEFAA41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HOW IT HELPS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2B939-BE2C-46EF-B544-CEAD9329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It moves business planning from guessing to guided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3235B-35A4-413B-A37F-C1054FF8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The system does not replace the entrepreneur; it gives them a better starting point.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161EE-C6FC-4D4A-A800-ED469148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476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484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E10CC-B5A4-4703-A261-ABE0735E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390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Before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95A1E-2116-43B7-9B96-FA2A813E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361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t>Guess stock</a:t>
            </a:r>
          </a:p>
          <a:p xmlns:a="http://schemas.openxmlformats.org/drawingml/2006/main">
            <a:pPr algn="ctr"/>
            <a:r>
              <a:t>Copy competitors</a:t>
            </a:r>
          </a:p>
          <a:p xmlns:a="http://schemas.openxmlformats.org/drawingml/2006/main">
            <a:pPr algn="ctr"/>
            <a:r>
              <a:t>Buy too much slow stock</a:t>
            </a:r>
          </a:p>
          <a:p xmlns:a="http://schemas.openxmlformats.org/drawingml/2006/main">
            <a:pPr algn="ctr"/>
            <a:r>
              <a:t>No clear explanation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3045C-F5DE-43DE-BA7F-52F9748A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476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05941-A201-424B-B9C6-8D0659CD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67000"/>
            <a:ext cx="390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After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2F853-8DDA-43E8-9B0E-A6DBB051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61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t>Use data patterns</a:t>
            </a:r>
          </a:p>
          <a:p xmlns:a="http://schemas.openxmlformats.org/drawingml/2006/main">
            <a:pPr algn="ctr"/>
            <a:r>
              <a:t>See top categories</a:t>
            </a:r>
          </a:p>
          <a:p xmlns:a="http://schemas.openxmlformats.org/drawingml/2006/main">
            <a:pPr algn="ctr"/>
            <a:r>
              <a:t>Start with fewer risks</a:t>
            </a:r>
          </a:p>
          <a:p xmlns:a="http://schemas.openxmlformats.org/drawingml/2006/main">
            <a:pPr algn="ctr"/>
            <a:r>
              <a:t>Understand the advice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9695E-BFFD-44F9-873D-188D342D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292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The biggest benefit is confidence: the user can explain why they chose a business idea.</a:t>
            </a:r>
          </a:p>
        </p:txBody>
      </p:sp>
    </p:spTree>
    <p:extLst>
      <p:ext uri="{BB962C8B-B14F-4D97-AF65-F5344CB8AC3E}">
        <p14:creationId xmlns:p14="http://schemas.microsoft.com/office/powerpoint/2010/main" val="2038760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9830DD-F6D4-4226-824D-B3A6BB23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9274C-44F2-4608-A956-9C478332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C442D-AE66-4FF4-9F4A-FE6F9834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DC064-6504-4058-B5BF-1152080C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07364-2BA9-4D5C-BEB9-A3FF95F9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4478F-4BA9-41F9-A3C5-DD0EAAA4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6B514-599C-41BF-A9B3-41779958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6FDA5-B5E4-4ED1-AE8F-10A35AFC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Small decisions can change business survival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587AE-1B64-4835-AE86-75E48C59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For small businesses, the wrong stock can lock money, expire, or stay unsold.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882ED-A024-46C7-92A9-FB838EE1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241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B3BCB-2712-4EE2-A3F3-B8F8A52E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86075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76367-2B7A-4011-B79F-9ACDCA4A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432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Less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92BD5-8A0B-4A70-8319-0ADC25C5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Guesswork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D7AC2-1FF6-47CA-A565-D61ECFE6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clearer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1E615-C7C2-457A-AB41-0D900D95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170BF-DC14-4EDF-A98F-CFFF5C05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886075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E0EF5-F778-443F-B997-0024BAB9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432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Lower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1878C-FB05-4DC5-9A35-19C29E01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052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Stock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124EE-0536-4BC5-A8AA-3BCA932A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529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start smaller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60D62-774F-4E8D-AFA3-B34B2AD7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241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A8760-8638-40D2-921B-A2E7363B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86075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F4C2C-EB11-4C42-83DD-FBF7CD6E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Better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669D35-5F9D-4492-B177-4276223E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052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Learning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A7162-C0A1-47A0-BCBB-38885ED3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529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record sales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B3816-AED6-4797-8F2F-4F76EFE6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33EF4D-4106-44A5-A655-03048288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886075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B711A8-BF55-4970-B9DB-48C9D1E1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More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70E691-559D-4CEB-9F00-711ABF92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052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Confidence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49ACF1-3F0C-4056-AF38-BD865D47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529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explain choices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11D4BA-4F11-4BE1-BF52-92D9C2D6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9620250" cy="781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F6803D-C261-48A3-AC95-AFFEFE6F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FF3D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t>What it can change: entrepreneurs can test business ideas carefully before spending too much money.</a:t>
            </a:r>
          </a:p>
        </p:txBody>
      </p:sp>
    </p:spTree>
    <p:extLst>
      <p:ext uri="{BB962C8B-B14F-4D97-AF65-F5344CB8AC3E}">
        <p14:creationId xmlns:p14="http://schemas.microsoft.com/office/powerpoint/2010/main" val="14924003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744C3F-F238-4CC4-9D05-360B3C56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7E313-FE98-4E34-84BD-AA4D83E4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BCC17-EE9D-44EC-BBCA-4EEC535A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64526-0C68-4710-B731-6118406E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99CF2-4D65-4401-9307-1B727863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E309B-1B53-4D22-BC0D-3501DD7D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62848-FFD4-4599-8E91-002F9D11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E382C-19FD-49A2-85C5-AB871793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The notebook follows the data science 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30D14-9F40-4165-8521-2022D84A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We kept the implementation simple so each step can be explained during presentation.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FF550-AC5E-4D48-A1FF-676165DB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5049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20F71-9B3B-457F-A333-DF904C21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F143C-EE74-483F-80D4-B842AFF4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1-2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12BED-19AD-4AAD-91D6-C864A041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Problem + data 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1285F-A023-40AC-B55D-445B696E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86125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4E120-C535-49EB-A514-F10B88A6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86050"/>
            <a:ext cx="15049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FFB89-4DD8-42FA-AA36-5637848D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838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7B487-2267-4D80-92E2-525F1A91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3-5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E13D8-6BFC-4115-A273-BFDFA0F0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480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Explore, clean, EDA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2C286-EB99-420D-A6A4-1BA900D6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286125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A1F3DF-D68C-4ED3-BAA6-6453F6A3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15049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D4865-0829-46EC-B2E8-EF63FE52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540C0-936E-42B7-9E3F-B85227CB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480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D042D-D37E-4A1B-A987-2DE890D8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480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Preprocess 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CF91F7-BA28-42A2-AF49-E3A4E44D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86125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C4A9B5-590D-4216-AB56-8D68B9FF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86050"/>
            <a:ext cx="15049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2345E2-18E2-457D-B87E-05CF5661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38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B386BC-F5F3-4992-B9BC-9C8E153B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7-9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64E8CC-83C9-4F4C-A443-3CFFA397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480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Train + evaluate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5369FE-B694-4FDE-BE3F-FD26CC11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286125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19E8D2-3586-4531-853A-0F9DC93E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15049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52AB12-8521-4820-BC92-A03D3896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38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383E5C-143E-482F-802E-013DD273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480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10-12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E122BC-7B42-4924-B1E9-20469C76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Visualize + tune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864624-F237-43BE-A4BB-1D09C9A4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86125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616046-6370-4F20-9132-EEFE074A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86050"/>
            <a:ext cx="15049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841"/>
          </a:solidFill>
          <a:ln xmlns:a="http://schemas.openxmlformats.org/drawingml/2006/main" w="9525">
            <a:solidFill>
              <a:srgbClr val="D9484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BD4F0C-54E8-40C0-9E3B-151FCFC5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838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7E59F1-D887-46C4-8F94-1982B511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A75746-117D-4C14-8621-4E682797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4480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Deploy Gradio app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363365-5E41-430E-AC36-28851BE5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Stage 14 is future monitoring: collect real shop outcomes, compare with recommendations, and improve the model.</a:t>
            </a:r>
          </a:p>
        </p:txBody>
      </p:sp>
    </p:spTree>
    <p:extLst>
      <p:ext uri="{BB962C8B-B14F-4D97-AF65-F5344CB8AC3E}">
        <p14:creationId xmlns:p14="http://schemas.microsoft.com/office/powerpoint/2010/main" val="13331932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A9989D-1C6E-451D-ABEB-2DD22AA5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17751-5C44-450B-9EB9-7D5EF70A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90051-D0A0-430C-BD7E-351106BF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7C898-3AE9-48F8-BC80-8F56ED39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439BC-E107-497D-9144-423A6206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334CA-D801-4235-BCE0-4F7B99F6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18927-4F80-4E84-9BD6-ED1AD9AE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DATA PREPARATION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F38AC-40D0-4331-BC9D-9E456A41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We intentionally started from messy assembled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C8C28-5165-4659-9F17-1E7AFE34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This shows cleaning skill: typos, duplicates, inconsistent categories, numeric formatting, and missing-value checks.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93055-E695-4EF4-B187-B2CE32C2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7AAB9-0AD2-4C4C-A7A6-69D7CE80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733675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841DA-7547-4302-8AF0-9099ED76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10,010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26BA7-A6E8-40E4-B2BD-B1F27038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Raw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90BEE-5A8F-45CA-B1F6-D09B47B0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before cleaning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53FED-26C7-4672-9C20-E43FD807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717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841"/>
          </a:solidFill>
          <a:ln xmlns:a="http://schemas.openxmlformats.org/drawingml/2006/main" w="9525">
            <a:solidFill>
              <a:srgbClr val="D9484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23FF6-9B9C-4BF0-8D04-66719A89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33675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59F43-A00D-429E-93EE-27C5AF63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908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ED4D4-0B49-4697-9638-6BC3233D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528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Duplicates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41F8E-791F-48EC-AF34-977414A4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005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removed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D9C9AB-9A76-4D33-9378-E50A4A70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717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846A3-39AD-4373-B031-197D702B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733675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6CCD0A-A01E-4BF1-84D3-3602B0A8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908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10,000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CAE3D-9CA2-4625-A3FA-9181EBA5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528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Final rows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2E537E-8F31-4D1A-AFC5-A48CEDC8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005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ML-ready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811CA4-D46E-4E98-844C-AB019893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545A2A-9833-499F-BEA0-40C0C7A4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33675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C117D1-FAE2-4DD5-AC2E-2615A2AF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908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0ED5AC-9B5A-4A6B-879A-A3BB0503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Missing values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8AC38D-CE06-4A2A-AC99-87A0A42D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005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after cleaning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898CCC-4C76-48E9-B04F-229FEB0E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A8CF1-3B71-48F9-8A90-01497D8F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33675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779E18-D9D8-417D-9CCD-163A3DAC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908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B08AD4-1C96-4A31-B7D3-A9E087E7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528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Final columns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35FB1D-979B-4B5B-AC6A-688AFFB7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005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simple schema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886C2C-8AF8-4534-99EC-773B7E17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Cleaning actions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6F1780-8CCC-4AA7-B5BF-B8C2C02C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0E4931-A7F9-4B64-837C-D3A41C97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531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Standardized region, customer group, shop type, product category, and demand labels.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EA133B-3461-40AD-952A-E0A5B1FB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43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79B6AB-9223-4F75-86D2-E5594B27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7695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Converted rainfall, temperature, price, and units sold into numeric columns.</a:t>
            </a:r>
          </a:p>
        </p:txBody>
      </p:sp>
    </p:spTree>
    <p:extLst>
      <p:ext uri="{BB962C8B-B14F-4D97-AF65-F5344CB8AC3E}">
        <p14:creationId xmlns:p14="http://schemas.microsoft.com/office/powerpoint/2010/main" val="2066255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AA85A1-8460-4BA2-B465-17B9227E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61A8C-5E13-4E6A-8B44-9244679A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5FF4A-7E0B-4313-B425-09432793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42621-FE49-40F1-8C14-26043F0A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9CF2C-C4AF-4ED8-903F-1A2841A9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83660-A0BF-47E4-88E2-8AA9EDB2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E0CA0-6C36-4A85-9537-BF72032D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EDA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E690B-5D14-40D8-8B7C-80D6F578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Exploration made the dataset explainable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A1CEF-DFB9-4CA4-91DB-4291D4A3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Before modelling, the notebook shows counts, summaries, missing values, duplicates, and charts.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D2F0B-56B9-4CD7-936B-953550E5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476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6471A-79D5-4443-AFA2-B7877634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49743-E86B-4FFC-9515-183CB43E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Regions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BA1FF-94CE-4A65-A3F8-244655B8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5 Tanzanian regions represented in the prototype-mapped dataset.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1E6FC-1C0B-423D-ADE4-FDB395AB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05050"/>
            <a:ext cx="2476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5C1C6-645C-4C7A-A539-BBC6398B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0505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9F8E2-A20C-42DA-9296-BA68DBD2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1460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Categories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D5111-F149-4333-AEAE-05596C8D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7180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6 product categories used for recommendation training.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D2697-D41D-4F81-8830-F0894532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2476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F325C-35C5-4068-8403-191F90AF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4DFB8-DC57-4F5C-A228-38B8FE72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FF3D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Target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C4020-3BEE-4357-91B3-53B88349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7180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FF3D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Demand level is intentionally not perfect, so evaluation has realistic errors.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C838C-9249-42E0-9DB5-852B6374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5050"/>
            <a:ext cx="19050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1B2FF-64B6-4D25-B573-F6C41147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5050"/>
            <a:ext cx="1905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FE6E50-330F-4F98-A9E2-90E50E40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1460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F3ED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Visuals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F70A4C-E3FE-414A-9CF7-D75D15DC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80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F3ED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Bar charts and confusion matrix support the story with evidence.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E322FB-A5DF-435E-BE7E-586A5A3D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Example EDA questions answered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E9693D-FE4A-461D-85A9-93507356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52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FABA45-3D49-4781-9077-72127438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Which products and categories appear most often?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07EB2E-7C53-48F3-871C-9A0ED33C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72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9986D4-F622-4BD3-AADC-A72CA4D6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054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How are demand labels distributed?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F87E1F-CFD4-437E-9AAF-BB07B6C7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E6E39E-1ABA-4E82-B0E6-975C985E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Are there duplicates or inconsistent spellings?</a:t>
            </a:r>
          </a:p>
        </p:txBody>
      </p:sp>
    </p:spTree>
    <p:extLst>
      <p:ext uri="{BB962C8B-B14F-4D97-AF65-F5344CB8AC3E}">
        <p14:creationId xmlns:p14="http://schemas.microsoft.com/office/powerpoint/2010/main" val="296518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5971D6-6759-44FE-9F38-FC3D8852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5B460-CAC5-4E6B-927C-7A5AB686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9A53C-A2CD-4251-900D-09ABB8E6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3B416-02AE-4A56-ACFF-70E17A90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59506-9108-4977-A5FA-BFFDD4E2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58CD1-230E-4CC4-A230-BF963EFA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FC901-1534-4155-9BB6-910301E3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ML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A3B36-E132-494A-8C95-811B052D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Simple algorithms were compared before choosing the best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3ACA9-A530-48A2-B69F-8A3AC594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This keeps the project beginner-friendly while still following a professional modelling process.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09A29-8502-4C0A-9654-97700C8E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3000375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B7E18-C3FF-4C3D-B2DD-FD0FB234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30003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7313C-28C3-4A60-B651-EEA48423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695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06872-7CCC-4F80-B651-B5027B41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26574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Region, month, rainfall, temperature, customer group, shop type, category, product, price.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529EF-DF48-416F-AF66-B324859F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000375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FEA5B-ACFF-4603-B5BD-C7AF6FB0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0003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F0647-A81B-4812-88D9-7721F054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43175"/>
            <a:ext cx="2695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710A1-6C04-45FE-8414-F9DE66A8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0375"/>
            <a:ext cx="26574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Demand level: High or Low after controlled uncertainty was added to avoid 100% accuracy.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ADFB3-F55E-49E4-8F0E-7A7E63D1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33625"/>
            <a:ext cx="3000375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5D27C-8248-495A-A125-4E9B7B27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33625"/>
            <a:ext cx="30003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31840-75DE-4AFC-A289-C5CFCCF1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43175"/>
            <a:ext cx="2695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Pipeline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F72C7-71B8-4213-8944-E05DCCB6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0375"/>
            <a:ext cx="26574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OneHotEncoder for categories, StandardScaler for numbers, then classifier.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2BE6A-A24C-445B-AE4F-B8376E22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12573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442F0-0602-44A9-9FEC-D4357D98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387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Train/test split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606C19-3BF2-4340-A32F-B9C2C202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910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80% training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A7800D-DEA4-47A1-B4AC-D406728F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29175"/>
            <a:ext cx="333375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CF2"/>
          </a:solidFill>
          <a:ln xmlns:a="http://schemas.openxmlformats.org/drawingml/2006/main" w="9525">
            <a:solidFill>
              <a:srgbClr val="E9ECF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9859D2-E536-41B9-A0FA-73F046A5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29175"/>
            <a:ext cx="26670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6CFFA1-74C8-41F9-9DA8-C443949B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9107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20% test data</a:t>
            </a:r>
          </a:p>
        </p:txBody>
      </p:sp>
    </p:spTree>
    <p:extLst>
      <p:ext uri="{BB962C8B-B14F-4D97-AF65-F5344CB8AC3E}">
        <p14:creationId xmlns:p14="http://schemas.microsoft.com/office/powerpoint/2010/main" val="16326571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796E68-7E6D-4542-9821-68B6D08F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4A32B-DA4D-42D9-AFC9-5B5BB1D7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0663F-9341-42E3-B49B-1D1A206C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FC270-CB6E-4ED0-B20B-C5BC640E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B15BC-80AF-4137-9D53-D6F2F8E4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DA098-067F-44D4-8604-77DC4D3C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B7432-0306-4FFB-97AF-8F202A00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MODEL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FEA31-9FF5-4364-9FF3-11B181E9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Gradient Boosting performed best in the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45396-0CC7-4DB5-918E-14E6C0F3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Accuracy is high but not perfect, which is better for a learning project than unrealistic 100% performance.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BB251-20A1-44AE-B89A-BE62A28B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Gradient Boosting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D9538-E324-457E-803D-96B15EE7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05050"/>
            <a:ext cx="447675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0F5"/>
          </a:solidFill>
          <a:ln xmlns:a="http://schemas.openxmlformats.org/drawingml/2006/main" w="9525">
            <a:solidFill>
              <a:srgbClr val="EDF0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DB3FD-26A8-49F3-BB15-31A5F32C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05050"/>
            <a:ext cx="4181475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9C518-DDEF-4CF1-B504-E8C3D882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93.3%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65526-AE8E-400D-8FFF-C06ED207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Random Forest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84123-8572-4B51-8C1E-C310871B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95600"/>
            <a:ext cx="447675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0F5"/>
          </a:solidFill>
          <a:ln xmlns:a="http://schemas.openxmlformats.org/drawingml/2006/main" w="9525">
            <a:solidFill>
              <a:srgbClr val="EDF0F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7B275-B9B9-4BB5-A961-FDF4B9A6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95600"/>
            <a:ext cx="41148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1662F-109B-48E2-9775-491A8A15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92.0%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65BCD-90DA-43BA-8B91-83B268E8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KNN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D9230-1E94-4FCD-B643-324C6F79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86150"/>
            <a:ext cx="447675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0F5"/>
          </a:solidFill>
          <a:ln xmlns:a="http://schemas.openxmlformats.org/drawingml/2006/main" w="9525">
            <a:solidFill>
              <a:srgbClr val="EDF0F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DB2E1-AC2F-473D-A366-7FBBDCD2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86150"/>
            <a:ext cx="401955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B311B3-708B-453B-B2D3-1A3BAD42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48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89.7%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92AC5-00DE-4219-A144-65205763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Decision Tree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668964-5B7D-45EC-909F-1608D52A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76700"/>
            <a:ext cx="447675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0F5"/>
          </a:solidFill>
          <a:ln xmlns:a="http://schemas.openxmlformats.org/drawingml/2006/main" w="9525">
            <a:solidFill>
              <a:srgbClr val="EDF0F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C359D7-CFB5-47EF-802D-5C3254FD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76700"/>
            <a:ext cx="3952875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4B87"/>
          </a:solidFill>
          <a:ln xmlns:a="http://schemas.openxmlformats.org/drawingml/2006/main" w="9525">
            <a:solidFill>
              <a:srgbClr val="E94B8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B2C11-E0F1-4D78-A152-91512669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88.3%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569E4F-5222-437C-A591-20E7BD43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Logistic Regression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A50F95-4269-4EF1-831B-CA87D9CC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67250"/>
            <a:ext cx="447675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0F5"/>
          </a:solidFill>
          <a:ln xmlns:a="http://schemas.openxmlformats.org/drawingml/2006/main" w="9525">
            <a:solidFill>
              <a:srgbClr val="EDF0F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BCFC78-CA5D-472E-B98B-3CADB8F8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67250"/>
            <a:ext cx="386715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236E0F-2134-43E4-9EE0-797384CD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291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86.3%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DBE559-FF09-4DBD-88D7-10F644C3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056A49-3E8D-4689-95EE-CEFC7953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336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8968B8-8D26-432C-878B-891452F8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81325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93.3%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4D1BA6-3E33-4598-B2D7-32747DD2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196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Best model</a:t>
            </a:r>
          </a:p>
          <a:p xmlns:a="http://schemas.openxmlformats.org/drawingml/2006/main">
            <a:pPr algn="l"/>
            <a:r>
              <a:t>Gradient Boosting</a:t>
            </a:r>
          </a:p>
        </p:txBody>
      </p:sp>
    </p:spTree>
    <p:extLst>
      <p:ext uri="{BB962C8B-B14F-4D97-AF65-F5344CB8AC3E}">
        <p14:creationId xmlns:p14="http://schemas.microsoft.com/office/powerpoint/2010/main" val="3111912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A32342-8AE0-42D8-BC00-F10612CA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B173D-2D48-4746-AAA1-D2196192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F29E1-3C3D-4574-BD66-1AB89C30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CDAC0-6365-4EF9-99D9-94DB48E4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30DB6-12E5-481D-A1B9-C8E9208A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3B6F4-27FC-4BE9-833F-6ACAB616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5D918-1D7D-4FF4-B979-774CE2BB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8257C-D091-4BD4-AD4C-AEBC418F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The tuned model performs well but still makes some errors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BFE51-53D8-480C-A45A-66BCBAFE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This is important: a real model should be evaluated honestly, not forced to perfect accuracy.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A8D2D-33EF-4A86-A163-69FA2560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Confusion matrix idea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E5D7C-80ED-4843-894F-2D956749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619250" cy="857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3F9C5-412C-44EF-8B2C-C21F36B6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1619250" cy="857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484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BD132-8D71-40D6-A952-67E3CC49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1619250" cy="857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48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4400F-C9FB-45FC-B715-6F17C700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33800"/>
            <a:ext cx="1619250" cy="857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3538D-5D2B-490D-BC15-AF746B34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Correct High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C0DB7-6903-42E4-AC03-2DFECB83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051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Wrong 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3FE38-C1C2-4BE0-B01E-401CD4BD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Wrong 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DE7BA-3DA8-4157-BAFE-4DE80F25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576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Correct 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9CE67-90B4-4828-BA2B-1A00A587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CAA34-9DCB-427F-8744-0970676D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86075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71919-E971-4CAC-A830-4ECC3D17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432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93.8%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82D26-CD47-49E9-A524-1871C559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052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Tuned 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DD514F-6EC1-4B12-8FA9-ABA8BAFE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529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Random Forest grid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D548BC-E7D4-4963-AFE7-72222280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841"/>
          </a:solidFill>
          <a:ln xmlns:a="http://schemas.openxmlformats.org/drawingml/2006/main" w="9525">
            <a:solidFill>
              <a:srgbClr val="D9484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A76159-ADD8-441C-B415-4263C524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86075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2A151-BAA6-4799-BDCA-0CFB8399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103B9-A050-4F5E-8C66-C282E40E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052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Test errors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5CC080-3047-434A-A748-87A1513F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5292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not zero, intentionally realistic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90155-1FF4-4033-AE2A-EEE2C3CD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20002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0C032E-57C8-49D5-82BE-EC9F83F6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2000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A3D9D4-D72A-4A5C-9824-1AD7D8B5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384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FF3D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Why errors matter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A894A5-8971-4D3D-B0BB-82A0355E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95650"/>
            <a:ext cx="1657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FF3D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Errors show that the project understands evaluation. A perfect model on prototype data would look suspicious and less educational.</a:t>
            </a:r>
          </a:p>
        </p:txBody>
      </p:sp>
    </p:spTree>
    <p:extLst>
      <p:ext uri="{BB962C8B-B14F-4D97-AF65-F5344CB8AC3E}">
        <p14:creationId xmlns:p14="http://schemas.microsoft.com/office/powerpoint/2010/main" val="8175502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761763-866B-4EF4-A9B3-664367A7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1F045-1A1D-4E1F-8871-3FF11A48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D8E51-2D13-4353-90E5-893978E3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ACB27-1490-42C0-B8DE-7C9632F9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2B939-D880-438D-AD1E-FF355691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03DE2-A130-4CE4-B98C-CE326319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8CFE0-945C-41CB-A5B0-C1B6C6B6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68343-0DCF-4D84-8DDD-02C881B2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Gradio turns the model into a quick web interface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5927A-C70B-4572-A2D4-127CB1F7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No spreadsheet upload is used in the final app. It uses our cleaned project data and user-selected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61991-8176-415F-8B35-549A1B47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714500" cy="1447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43562-15FF-4092-B9AE-DEDE7924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714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42673-3B25-4C29-A78C-C3779D6A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Inputs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6FD21-00C9-40C4-A2B3-A8C6C6D0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1371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Region, age, month, weather, customer, shop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92F6D-872C-4EFF-AA5E-E32FAE1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956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424DD-49F3-4420-8EC4-32267546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86050"/>
            <a:ext cx="1714500" cy="1447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E5607-D40E-463B-9F22-367A27AE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86050"/>
            <a:ext cx="1714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499D3-8110-4452-A0DC-134B4336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956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4F1CB-4EBC-4BF3-B32B-E27D2906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52800"/>
            <a:ext cx="1371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Ranks high-demand categories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4A94E8-8DC8-4C13-B46F-5C9BF238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11A94-7025-4548-B446-250BC683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1714500" cy="1447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FE29FB-D7FA-43A2-BDCA-3871C0B5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1714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F11FF-6646-41EA-A228-B4774B28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Products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EA5DD-8DF0-4B3E-B129-B64D04EB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52800"/>
            <a:ext cx="1371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Lists top products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6954A1-9C2F-481D-8ED0-4C8ADB4D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956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23A45B-A45F-41C3-A325-04ACAE27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86050"/>
            <a:ext cx="1714500" cy="1447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19BFB9-B524-41B2-858A-9C52DC68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86050"/>
            <a:ext cx="1714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FA84F1-3835-436B-A83A-117A1687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956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Pie chart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9DC0B7-E360-49D6-929D-469449A1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2800"/>
            <a:ext cx="1371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Shows score share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648DEF-8928-40B5-9E6C-2054CBD0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956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E61202-2D10-44BC-8062-38A65A89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1714500" cy="1447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5C60C4-AED9-4DAA-8E36-88B5D4DC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1714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2E49EC-44DD-445E-BCBF-DF4B7A46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956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LLM advice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FB9EB7-3F2D-4DC4-97D4-A3AA03DA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52800"/>
            <a:ext cx="1371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Gives age-aware advice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72312C-D46B-49C6-8F4B-5743A52A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Why Gradio?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B88E06-8A1A-493A-92CF-273901DE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5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49AB8C-C6C5-43B1-9D46-EB1E3DB8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It is just a Python library, so it is fast for school demos and model prototypes.</a:t>
            </a:r>
          </a:p>
        </p:txBody>
      </p:sp>
    </p:spTree>
    <p:extLst>
      <p:ext uri="{BB962C8B-B14F-4D97-AF65-F5344CB8AC3E}">
        <p14:creationId xmlns:p14="http://schemas.microsoft.com/office/powerpoint/2010/main" val="12976893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5E6175-88CF-4507-83AD-3DD7635B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F118F-B717-46EE-A51B-45AA8486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4FC9A-D14E-4847-8BBA-0337D2DB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51DF5-9B78-47FA-A55B-741E66CF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706D4-8787-41AF-AEC6-DF6CE333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0B3F3-3D84-46BD-AFBE-FB3947EE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AFB46-E27C-4182-BB1B-9FF6B5C1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LLM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8542A-7064-4AFD-B18C-83E287CD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OpenAI explains the prediction in human language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F08C1-64DC-4265-8881-AD330518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The ML model predicts; the LLM translates the result into practical, age-aware advice.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22C48-978C-44ED-A9A3-F7BF75D1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85750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7213D-FB5C-4B7F-9A8D-96C76E04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857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82FA8-DBAB-4043-B7FC-C2735659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F3ED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Age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104A3-BDC7-4699-9CBF-EA457B86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514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F3ED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Age guides life-stage advice, capital caution, risk level, and first steps.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94803-7FCA-4B62-809F-C4ED5FF7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285750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3B148-3707-4D48-B152-9E4DE07E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2857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AE330-7FFF-4FAE-A4E7-EAD319B1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9555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.env 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EB4F6-6696-4B82-886E-1FD4E12C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2514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The API key stays local and .gitignore prevents committing secrets.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F4974-EE2C-4697-B20D-6D747601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86000"/>
            <a:ext cx="285750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17017-B31E-4D10-9A0D-FC4B212C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86000"/>
            <a:ext cx="2857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4FB92-610B-45A5-8A3F-0A2CE67C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9555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FF3D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Safe 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39420-6897-47E1-A743-513E8ED1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2514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FF3D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If API quota or key issues occur, Gradio still shows local advice.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114F3-42CF-451F-ADCB-72A929C1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9906000" cy="819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4D3CC2-F85B-446C-B58C-C4E4FC9C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Important: the LLM explanation is not the model itself. It interprets the prediction for presentation and user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6205400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3A6C79-12BB-4645-A4B6-21875BE1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A8F71-9938-4ED8-8A62-38D037E2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D9C68-968D-4A70-B9C5-D6A10126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82DEE-EE0E-41EB-8A86-9C0B076C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BF2FE-01BE-4FEE-8DCD-088D3DA1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2D680-3BCE-42A1-B51A-749747CC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7C5A6-5081-4DC5-BFA3-5A018F8E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PROJECT ASSETS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DF095-F437-4102-A806-A9EE18CC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The final folder is organized for presentation and 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4F0F9-C36F-4F8A-A59D-54D2399A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The work includes notebooks, cleaned data, saved model, README, gitignore, and the presentation deck.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9700D-7F36-4236-B4F0-CEE65AE6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47650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81980-C5A9-4894-9945-73D87F03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C0DB1-0A94-474E-8439-A8215A62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Notebook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06DA4-4DF9-4DFA-A192-0A9E650E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133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Data story, EDA, cleaning, preprocessing, final ML-ready CSV.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486F4-7858-46BF-98E4-0D81E42F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247650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3D309-9503-4D70-A3C6-C2D1ACB6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EDC08-5245-4267-A335-C3D5D221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Notebook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E7C50-12B1-4EFF-B186-5BDE3082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48000"/>
            <a:ext cx="2133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Feature engineering, training, evaluation, tuning, Gradio app.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C1FEE-CA34-43FE-8B63-236B65D4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47650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84772-81B1-40D7-AC0D-9FEC1BD3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C2956-9C64-40A5-A56B-40D649CF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D5D9CE-8670-4E18-B715-C90B889E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2133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Saved joblib artifact used by the recommender pipeline.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DBF20B-8219-4D85-8FC5-7630FF6B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209550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919E1A-E8B2-4D57-A002-6E6F7E4D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E17A3E-9EFD-46AF-9AD5-B753E5C6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README + GitHub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32F38-333B-4C71-BBE5-A8C61907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480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Explains how to run the project and protects secrets with .gitignore.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74CD8-177A-464D-B1E1-7D015284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GitHub: kmhhosea/Capstone-project-Group-1-Smart-business-recommendation-system</a:t>
            </a:r>
          </a:p>
        </p:txBody>
      </p:sp>
    </p:spTree>
    <p:extLst>
      <p:ext uri="{BB962C8B-B14F-4D97-AF65-F5344CB8AC3E}">
        <p14:creationId xmlns:p14="http://schemas.microsoft.com/office/powerpoint/2010/main" val="1647280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59498C-1D91-4F74-92C4-81BE050F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3E687-89C1-495C-A700-7AD2B611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782BD-B12B-4DF1-8D6A-F9139F6C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BBF57-7D1F-41FA-BDE7-F88F3C83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39AC0-50F8-48BF-B1FE-83574790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C5E40-E11D-4405-9D89-C4CD1CD8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DD6A6-4B5B-4A0D-BE0B-9ADC268D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MONITORING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690C7-2844-4FFB-AF42-0FA6A06A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Future improvement depends on real shop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02318-0A17-4A8B-9934-2980FAA3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The prototype is ready for learning; real-world usefulness improves when real sales outcomes are collected.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1ACBE-CDCF-4168-8561-7F79848A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15049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D68F0-D8D1-450E-9FD5-0F83B160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B67F1-B58A-42BF-A471-94CAC628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861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F850A-9B56-445E-9557-6EFAAE46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Recommend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4BF17-AB3D-4789-BA9D-DA46CFB1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24150"/>
            <a:ext cx="15049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DBF75-C8FA-468E-A62F-70F10742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765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F3F65-EFAE-4149-9BB7-18527876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861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64403-0A9D-4F0F-8CB2-B6EF1828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861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Shop 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B9B2B-3D15-44CC-9127-544D507F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24150"/>
            <a:ext cx="15049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37E96-B725-45B8-AFE8-6D7AF582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765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F173C-28D4-4107-94C7-182C5331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0861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55BFE-851A-4BDF-954A-1FB78274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861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Record sales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D9C90-9D1B-4F3F-9888-6CD6E6A2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15049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2994F-DFFD-4FFD-AD99-5C2D9331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765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03FC8-53D5-4C1B-B87E-BB21EBBF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861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0DAD0-799A-47E6-938A-163622F9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Compare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338AA1-07F1-44DD-BFE8-C59CFCC8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24150"/>
            <a:ext cx="15049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841"/>
          </a:solidFill>
          <a:ln xmlns:a="http://schemas.openxmlformats.org/drawingml/2006/main" w="9525">
            <a:solidFill>
              <a:srgbClr val="D9484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34BE1C-187D-4C9C-8501-81792D66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765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2B8E78-0E1D-43FD-82AF-9A4CA710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08610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DDCF8-D097-4800-96CE-2F0A3DAB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861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Improve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90EA20-61F8-4F3B-AACD-58076C7D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52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Feedback loop: recommendation -&gt; action -&gt; actual units sold -&gt; evaluation -&gt; model retraining.</a:t>
            </a:r>
          </a:p>
        </p:txBody>
      </p:sp>
    </p:spTree>
    <p:extLst>
      <p:ext uri="{BB962C8B-B14F-4D97-AF65-F5344CB8AC3E}">
        <p14:creationId xmlns:p14="http://schemas.microsoft.com/office/powerpoint/2010/main" val="18027129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6A1ECF-F464-4012-96BC-72DF878C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5A"/>
          </a:solidFill>
          <a:ln xmlns:a="http://schemas.openxmlformats.org/drawingml/2006/main" w="9525">
            <a:solidFill>
              <a:srgbClr val="223B5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937C2-61A2-491E-8F06-C1D1E203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5D8F4-5E83-4193-BEC9-EBD07C25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C6"/>
          </a:solidFill>
          <a:ln xmlns:a="http://schemas.openxmlformats.org/drawingml/2006/main" w="9525">
            <a:solidFill>
              <a:srgbClr val="14B8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0FA32-DBB7-46F6-9C46-DFF5AEF3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62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13731-E9EF-4B69-8544-90BE32B4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Group 1 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CCA7F-092C-466F-9AF4-14CB77C1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B2408-4F38-4C58-9F58-B8AA3177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FINAL MESSAGE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B5181-0142-4C24-89D5-F318FD84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Simple tools can still build a complete AI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73261-74F9-4FBC-8D82-A3FE2A70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62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FBFAF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t>From messy data to cleaning, EDA, ML evaluation, Gradio deployment, and age-aware AI explanation.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8F931-A34B-49BB-BA38-3993BED4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04800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9B64C-AF1A-41D9-BA7C-181C0B45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048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00CAC-F6C5-4B3E-809C-1F645826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FF3D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What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50308-3944-4440-A39C-B9D8674D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705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FF3D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Data quality, honest evaluation, and clear communication.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34203-4C7C-4B7E-B5A1-56B24560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304800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CD582-9BC1-4B76-97CC-292907B2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3048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58"/>
          </a:solidFill>
          <a:ln xmlns:a="http://schemas.openxmlformats.org/drawingml/2006/main" w="9525">
            <a:solidFill>
              <a:srgbClr val="18A0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4CB65-9CCF-4D4C-B0CA-39304CF5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908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What Changes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03E1A-E047-493A-BA3F-2420470E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48050"/>
            <a:ext cx="2705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Less guessing, lower stock risk, and more confident choices.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F136E-AD0D-4B3E-B160-FEE47207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3048000" cy="1619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8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48D57-AAB9-4A6C-9C24-7D46A128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3048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E5"/>
          </a:solidFill>
          <a:ln xmlns:a="http://schemas.openxmlformats.org/drawingml/2006/main" w="9525">
            <a:solidFill>
              <a:srgbClr val="2C7B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4DE4D-7A94-421B-941F-7053F8FC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Next Step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04CFAC-68DD-4EEB-90B8-A8DCD384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48050"/>
            <a:ext cx="2705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Collect real Tanzanian shop sales and monitor outcomes.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63239-8946-459D-B09E-294ED5BB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9906000" cy="60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1FC89-75B6-40DF-8F09-2813CDB7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923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F3EDF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/>
            <a:r>
              <a:t>The project is ready for presentation: notebooks, model, Gradio app, README, GitHub, and PPT.</a:t>
            </a:r>
          </a:p>
        </p:txBody>
      </p:sp>
    </p:spTree>
    <p:extLst>
      <p:ext uri="{BB962C8B-B14F-4D97-AF65-F5344CB8AC3E}">
        <p14:creationId xmlns:p14="http://schemas.microsoft.com/office/powerpoint/2010/main" val="1854714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2026-06-04T19:39:05.2040000Z</dcterms:created>
  <dcterms:modified xsi:type="dcterms:W3CDTF">2026-06-04T19:39:05.2040000Z</dcterms:modified>
</coreProperties>
</file>